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cc84e10e3904a6a" /><Relationship Type="http://schemas.openxmlformats.org/package/2006/relationships/metadata/core-properties" Target="/docProps/core.xml" Id="Rca92d86baa2b4773" /><Relationship Type="http://schemas.openxmlformats.org/officeDocument/2006/relationships/extended-properties" Target="/docProps/app.xml" Id="R1be49c4a6b2f4d21" /><Relationship Type="http://schemas.openxmlformats.org/officeDocument/2006/relationships/custom-properties" Target="/docProps/custom.xml" Id="R2142c6a57aaa4af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1eeca600bd474c8c"/>
    <p:sldId id="257" r:id="Re9e8e6ba76ef4c34"/>
    <p:sldId id="258" r:id="R7b88958bbf18443e"/>
    <p:sldId id="259" r:id="R640d1a0c594e4212"/>
    <p:sldId id="260" r:id="R49cbcaebb96d42da"/>
    <p:sldId id="261" r:id="R272992652cdd4239"/>
    <p:sldId id="262" r:id="Rf38ebc5fe4df4276"/>
    <p:sldId id="263" r:id="R0e5f6b3d90d24fa2"/>
    <p:sldId id="264" r:id="R0c4851373861427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eeca600bd474c8c" /><Relationship Type="http://schemas.openxmlformats.org/officeDocument/2006/relationships/slide" Target="/ppt/slides/slide2.xml" Id="Re9e8e6ba76ef4c34" /><Relationship Type="http://schemas.openxmlformats.org/officeDocument/2006/relationships/slide" Target="/ppt/slides/slide3.xml" Id="R7b88958bbf18443e" /><Relationship Type="http://schemas.openxmlformats.org/officeDocument/2006/relationships/slide" Target="/ppt/slides/slide4.xml" Id="R640d1a0c594e4212" /><Relationship Type="http://schemas.openxmlformats.org/officeDocument/2006/relationships/slide" Target="/ppt/slides/slide5.xml" Id="R49cbcaebb96d42da" /><Relationship Type="http://schemas.openxmlformats.org/officeDocument/2006/relationships/slide" Target="/ppt/slides/slide6.xml" Id="R272992652cdd4239" /><Relationship Type="http://schemas.openxmlformats.org/officeDocument/2006/relationships/slide" Target="/ppt/slides/slide7.xml" Id="Rf38ebc5fe4df4276" /><Relationship Type="http://schemas.openxmlformats.org/officeDocument/2006/relationships/slide" Target="/ppt/slides/slide8.xml" Id="R0e5f6b3d90d24fa2" /><Relationship Type="http://schemas.openxmlformats.org/officeDocument/2006/relationships/slide" Target="/ppt/slides/slide9.xml" Id="R0c485137386142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Selamat siang. Kami dari kelompok 3 akan mempresentasikan penerapan data mining untuk manajemen risiko operasional, fokus pada deteksi fraud transaksi keuangan menggunakan dataset PaySim.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Risiko operasional menurut Basel II mencakup kerugian dari kegagalan proses, manusia, sistem, dan kejadian eksternal. Fraud termasuk kategori terbesar. Meskipun proporsi fraud hanya 0,129%, dampaknya sangat besar.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Dataset PaySim berisi 6,36 juta transaksi dengan 11 atribut. Penting: fraud hanya muncul pada dua jenis transaksi, yaitu TRANSFER dan CASH_OUT.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Kami memakai CRISP-DM. Tugas dibagi tiga: Anggota 1 menyiapkan data dan EDA sebagai fondasi bersama, Anggota 2 mengerjakan klasifikasi, Anggota 3 mengerjakan deteksi anomali dan klastering.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Eksplorasi menunjukkan fraud hanya pada TRANSFER dan CASH_OUT, dengan jumlah masing-masing sekitar 4.100 transaksi. Polanya adalah menguras saldo pengirim hingga nol.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Random Forest unggul dengan PR-AUC 0,998 dan F1 0,999. Model linear punya recall tinggi tapi precision rendah, sehingga banyak alarm palsu. Tree-based jauh lebih baik untuk kasus ini.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Isolation Forest mendeteksi fraud tanpa label dengan ROC-AUC 0,85, bermanfaat untuk modus baru. Klastering memisahkan segmen berisiko tinggi (nominal besar, rasio tinggi) yang perlu pemantauan ketat.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Kesimpulannya, Random Forest terbaik untuk prediksi, Isolation Forest untuk modus baru, dan klastering untuk segmentasi risiko. Rekomendasi mitigasi mencakup risk scoring real-time, kontrol berlapis, deteksi anomali berkala, dan retraining periodik.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Terima kasih atas perhatiannya. Kami siap menerima pertanyaan dan diskusi.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5cbe2ae84743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4fec646ca424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9157c3119546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76d791f9d54b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05834c93a4d8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187b8d7389f44fef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f1b85bc674e69" /><Relationship Type="http://schemas.openxmlformats.org/officeDocument/2006/relationships/notesSlide" Target="/ppt/notesSlides/notesSlide1.xml" Id="Racaa837c36ac45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daa8198054c31" /><Relationship Type="http://schemas.openxmlformats.org/officeDocument/2006/relationships/notesSlide" Target="/ppt/notesSlides/notesSlide2.xml" Id="R908eb840280d4f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fd4243e894ccb" /><Relationship Type="http://schemas.openxmlformats.org/officeDocument/2006/relationships/notesSlide" Target="/ppt/notesSlides/notesSlide3.xml" Id="R0147c967f3a34c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595a52daa41a0" /><Relationship Type="http://schemas.openxmlformats.org/officeDocument/2006/relationships/notesSlide" Target="/ppt/notesSlides/notesSlide4.xml" Id="R39c77ee6b99248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1118014bd4526" /><Relationship Type="http://schemas.openxmlformats.org/officeDocument/2006/relationships/notesSlide" Target="/ppt/notesSlides/notesSlide5.xml" Id="Rc77859b8c3f54926" /><Relationship Type="http://schemas.openxmlformats.org/officeDocument/2006/relationships/chart" Target="/ppt/slides/charts/chart1.xml" Id="R4bf76ae8e99c4c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0a1d7f94c4a39" /><Relationship Type="http://schemas.openxmlformats.org/officeDocument/2006/relationships/notesSlide" Target="/ppt/notesSlides/notesSlide6.xml" Id="Rd1ef8972c4964b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c40d6bfb84bab" /><Relationship Type="http://schemas.openxmlformats.org/officeDocument/2006/relationships/notesSlide" Target="/ppt/notesSlides/notesSlide7.xml" Id="R18763dcfee6146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cf71a7d7548f7" /><Relationship Type="http://schemas.openxmlformats.org/officeDocument/2006/relationships/notesSlide" Target="/ppt/notesSlides/notesSlide8.xml" Id="Rce3667aea2114f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c415cad9c462f" /><Relationship Type="http://schemas.openxmlformats.org/officeDocument/2006/relationships/notesSlide" Target="/ppt/notesSlides/notesSlide9.xml" Id="R2f203abe973f4cdd" /></Relationships>
</file>

<file path=ppt/slides/charts/chart1.xml><?xml version="1.0" encoding="utf-8"?>
<c:chartSpace xmlns:c="http://schemas.openxmlformats.org/drawingml/2006/chart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Jumlah Fraud</c:v>
          </c:tx>
          <c:spPr>
            <a:solidFill xmlns:a="http://schemas.openxmlformats.org/drawingml/2006/main">
              <a:srgbClr val="4472C4"/>
            </a:solidFill>
          </c:spPr>
          <c:cat>
            <c:strLit>
              <c:ptCount val="5"/>
              <c:pt idx="0">
                <c:v>TRANSFER</c:v>
              </c:pt>
              <c:pt idx="1">
                <c:v>CASH_OUT</c:v>
              </c:pt>
              <c:pt idx="2">
                <c:v>PAYMENT</c:v>
              </c:pt>
              <c:pt idx="3">
                <c:v>CASH_IN</c:v>
              </c:pt>
              <c:pt idx="4">
                <c:v>DEBIT</c:v>
              </c:pt>
            </c:strLit>
          </c:cat>
          <c:val>
            <c:numLit>
              <c:formatCode>General</c:formatCode>
              <c:ptCount val="5"/>
              <c:pt idx="0">
                <c:v>4097</c:v>
              </c:pt>
              <c:pt idx="1">
                <c:v>4116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3864"/>
        </a:solidFill>
      </p:bgPr>
    </p:bg>
    <p:spTree>
      <p:nvGrpSpPr>
        <p:cNvPr id="1" name=""/>
        <p:cNvGrpSpPr/>
        <p:nvPr/>
      </p:nvGrpSpPr>
      <p:grpSpPr/>
      <p:sp>
        <p:nvSpPr>
          <p:cNvPr id="10000" name="TextBox 1"/>
          <p:cNvSpPr/>
          <p:nvPr/>
        </p:nvSpPr>
        <p:spPr>
          <a:xfrm xmlns:a="http://schemas.openxmlformats.org/drawingml/2006/main">
            <a:off x="0" y="2592000"/>
            <a:ext cx="121932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" name="TextBox 2"/>
          <p:cNvSpPr txBox="1"/>
          <p:nvPr/>
        </p:nvSpPr>
        <p:spPr>
          <a:xfrm xmlns:a="http://schemas.openxmlformats.org/drawingml/2006/main">
            <a:off x="720000" y="1440000"/>
            <a:ext cx="107532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Calibri"/>
                <a:ea typeface="Calibri"/>
              </a:rPr>
              <a:t>OPERATIONAL RISK MANAGEMENT</a:t>
            </a:r>
          </a:p>
        </p:txBody>
      </p:sp>
      <p:sp>
        <p:nvSpPr>
          <p:cNvPr id="10002" name="TextBox 3"/>
          <p:cNvSpPr txBox="1"/>
          <p:nvPr/>
        </p:nvSpPr>
        <p:spPr>
          <a:xfrm xmlns:a="http://schemas.openxmlformats.org/drawingml/2006/main">
            <a:off x="720000" y="2808000"/>
            <a:ext cx="107532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 i="1">
                <a:solidFill>
                  <a:srgbClr val="9DC3E6"/>
                </a:solidFill>
                <a:latin typeface="Calibri"/>
                <a:ea typeface="Calibri"/>
              </a:rPr>
              <a:t>Deteksi Fraud Transaksi Keuangan dengan Teknik Data Mining</a:t>
            </a:r>
          </a:p>
        </p:txBody>
      </p:sp>
      <p:sp>
        <p:nvSpPr>
          <p:cNvPr id="10003" name="TextBox 4"/>
          <p:cNvSpPr txBox="1"/>
          <p:nvPr/>
        </p:nvSpPr>
        <p:spPr>
          <a:xfrm xmlns:a="http://schemas.openxmlformats.org/drawingml/2006/main">
            <a:off x="720000" y="3456000"/>
            <a:ext cx="107532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Studi Kasus: Dataset PaySim — 6.362.620 Transaksi</a:t>
            </a:r>
          </a:p>
        </p:txBody>
      </p:sp>
      <p:sp>
        <p:nvSpPr>
          <p:cNvPr id="10004" name="TextBox 5"/>
          <p:cNvSpPr txBox="1"/>
          <p:nvPr/>
        </p:nvSpPr>
        <p:spPr>
          <a:xfrm xmlns:a="http://schemas.openxmlformats.org/drawingml/2006/main">
            <a:off x="720000" y="4860000"/>
            <a:ext cx="107532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500">
                <a:solidFill>
                  <a:srgbClr val="E7E6E6"/>
                </a:solidFill>
                <a:latin typeface="Calibri"/>
                <a:ea typeface="Calibri"/>
              </a:rPr>
              <a:t>Tugas Kelompok — Data Mining (S2)</a:t>
            </a:r>
          </a:p>
          <a:p xmlns:a="http://schemas.openxmlformats.org/drawingml/2006/main">
            <a:pPr algn="l"/>
            <a:r>
              <a:rPr lang="en-US" sz="1500">
                <a:solidFill>
                  <a:srgbClr val="E7E6E6"/>
                </a:solidFill>
                <a:latin typeface="Calibri"/>
                <a:ea typeface="Calibri"/>
              </a:rPr>
              <a:t>Kelompok 3 Anggota:  [Anggota 1]  •  [Anggota 2]  •  [Anggota 3]</a:t>
            </a:r>
          </a:p>
          <a:p xmlns:a="http://schemas.openxmlformats.org/drawingml/2006/main">
            <a:pPr algn="l"/>
            <a:r>
              <a:rPr lang="en-US" sz="1500">
                <a:solidFill>
                  <a:srgbClr val="E7E6E6"/>
                </a:solidFill>
                <a:latin typeface="Calibri"/>
                <a:ea typeface="Calibri"/>
              </a:rPr>
              <a:t>Tahun Akademik 2025/2026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" name="TextBox 1"/>
          <p:cNvSpPr/>
          <p:nvPr/>
        </p:nvSpPr>
        <p:spPr>
          <a:xfrm xmlns:a="http://schemas.openxmlformats.org/drawingml/2006/main">
            <a:off x="0" y="0"/>
            <a:ext cx="12193200" cy="8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" name="TextBox 2"/>
          <p:cNvSpPr/>
          <p:nvPr/>
        </p:nvSpPr>
        <p:spPr>
          <a:xfrm xmlns:a="http://schemas.openxmlformats.org/drawingml/2006/main">
            <a:off x="0" y="828000"/>
            <a:ext cx="121932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7" name="TextBox 3"/>
          <p:cNvSpPr txBox="1"/>
          <p:nvPr/>
        </p:nvSpPr>
        <p:spPr>
          <a:xfrm xmlns:a="http://schemas.openxmlformats.org/drawingml/2006/main">
            <a:off x="457200" y="180000"/>
            <a:ext cx="1116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  <a:latin typeface="Calibri"/>
                <a:ea typeface="Calibri"/>
              </a:rPr>
              <a:t>Latar Belakang &amp; Tujuan</a:t>
            </a:r>
          </a:p>
        </p:txBody>
      </p:sp>
      <p:sp>
        <p:nvSpPr>
          <p:cNvPr id="10008" name="TextBox 4"/>
          <p:cNvSpPr txBox="1"/>
          <p:nvPr/>
        </p:nvSpPr>
        <p:spPr>
          <a:xfrm xmlns:a="http://schemas.openxmlformats.org/drawingml/2006/main">
            <a:off x="457200" y="1152000"/>
            <a:ext cx="666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900">
                <a:solidFill>
                  <a:srgbClr val="333333"/>
                </a:solidFill>
                <a:latin typeface="Calibri"/>
                <a:ea typeface="Calibri"/>
              </a:rPr>
              <a:t>•  Risiko operasional (Basel II): kerugian akibat kegagalan proses, manusia, sistem, atau kejadian eksternal.</a:t>
            </a:r>
          </a:p>
          <a:p xmlns:a="http://schemas.openxmlformats.org/drawingml/2006/main">
            <a:pPr algn="l"/>
            <a:r>
              <a:rPr lang="en-US" sz="19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900">
                <a:solidFill>
                  <a:srgbClr val="333333"/>
                </a:solidFill>
                <a:latin typeface="Calibri"/>
                <a:ea typeface="Calibri"/>
              </a:rPr>
              <a:t>•  Fraud adalah salah satu loss event terbesar di sektor keuangan.</a:t>
            </a:r>
          </a:p>
          <a:p xmlns:a="http://schemas.openxmlformats.org/drawingml/2006/main">
            <a:pPr algn="l"/>
            <a:r>
              <a:rPr lang="en-US" sz="19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900">
                <a:solidFill>
                  <a:srgbClr val="333333"/>
                </a:solidFill>
                <a:latin typeface="Calibri"/>
                <a:ea typeface="Calibri"/>
              </a:rPr>
              <a:t>•  Jutaan transaksi per hari membuat deteksi manual tidak lagi memadai.</a:t>
            </a:r>
          </a:p>
          <a:p xmlns:a="http://schemas.openxmlformats.org/drawingml/2006/main">
            <a:pPr algn="l"/>
            <a:r>
              <a:rPr lang="en-US" sz="19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900">
                <a:solidFill>
                  <a:srgbClr val="333333"/>
                </a:solidFill>
                <a:latin typeface="Calibri"/>
                <a:ea typeface="Calibri"/>
              </a:rPr>
              <a:t>•  Solusi: pipeline data mining (klasifikasi, anomali, klastering) yang disajikan dalam dashboard interaktif.</a:t>
            </a:r>
          </a:p>
        </p:txBody>
      </p:sp>
      <p:sp>
        <p:nvSpPr>
          <p:cNvPr id="10009" name="TextBox 5"/>
          <p:cNvSpPr/>
          <p:nvPr/>
        </p:nvSpPr>
        <p:spPr>
          <a:xfrm xmlns:a="http://schemas.openxmlformats.org/drawingml/2006/main">
            <a:off x="7560000" y="1296000"/>
            <a:ext cx="4176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0" name="TextBox 6"/>
          <p:cNvSpPr txBox="1"/>
          <p:nvPr/>
        </p:nvSpPr>
        <p:spPr>
          <a:xfrm xmlns:a="http://schemas.openxmlformats.org/drawingml/2006/main">
            <a:off x="7560000" y="1512000"/>
            <a:ext cx="4176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400" b="1">
                <a:solidFill>
                  <a:srgbClr val="FFFFFF"/>
                </a:solidFill>
                <a:latin typeface="Calibri"/>
                <a:ea typeface="Calibri"/>
              </a:rPr>
              <a:t>0,129%</a:t>
            </a:r>
          </a:p>
        </p:txBody>
      </p:sp>
      <p:sp>
        <p:nvSpPr>
          <p:cNvPr id="10011" name="TextBox 7"/>
          <p:cNvSpPr txBox="1"/>
          <p:nvPr/>
        </p:nvSpPr>
        <p:spPr>
          <a:xfrm xmlns:a="http://schemas.openxmlformats.org/drawingml/2006/main">
            <a:off x="7560000" y="2376000"/>
            <a:ext cx="41760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transaksi tergolong FRAUD —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namun berdampak finansial &amp;</a:t>
            </a:r>
          </a:p>
          <a:p xmlns:a="http://schemas.openxmlformats.org/drawingml/2006/main">
            <a:pPr algn="ctr"/>
            <a:r>
              <a:rPr lang="en-US" sz="1500">
                <a:solidFill>
                  <a:srgbClr val="FFFFFF"/>
                </a:solidFill>
                <a:latin typeface="Calibri"/>
                <a:ea typeface="Calibri"/>
              </a:rPr>
              <a:t>reputasi yang sangat besar</a:t>
            </a:r>
          </a:p>
        </p:txBody>
      </p:sp>
      <p:sp>
        <p:nvSpPr>
          <p:cNvPr id="10012" name="TextBox 8"/>
          <p:cNvSpPr txBox="1"/>
          <p:nvPr/>
        </p:nvSpPr>
        <p:spPr>
          <a:xfrm xmlns:a="http://schemas.openxmlformats.org/drawingml/2006/main">
            <a:off x="7560000" y="3672000"/>
            <a:ext cx="4176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500" i="1">
                <a:solidFill>
                  <a:srgbClr val="1F3864"/>
                </a:solidFill>
                <a:latin typeface="Calibri"/>
                <a:ea typeface="Calibri"/>
              </a:rPr>
              <a:t>Tujuan: membangun sistem peringatan dini fraud berbasis data sebagai bagian dari manajemen risiko operasional.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3" name="TextBox 1"/>
          <p:cNvSpPr/>
          <p:nvPr/>
        </p:nvSpPr>
        <p:spPr>
          <a:xfrm xmlns:a="http://schemas.openxmlformats.org/drawingml/2006/main">
            <a:off x="0" y="0"/>
            <a:ext cx="12193200" cy="8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4" name="TextBox 2"/>
          <p:cNvSpPr/>
          <p:nvPr/>
        </p:nvSpPr>
        <p:spPr>
          <a:xfrm xmlns:a="http://schemas.openxmlformats.org/drawingml/2006/main">
            <a:off x="0" y="828000"/>
            <a:ext cx="121932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5" name="TextBox 3"/>
          <p:cNvSpPr txBox="1"/>
          <p:nvPr/>
        </p:nvSpPr>
        <p:spPr>
          <a:xfrm xmlns:a="http://schemas.openxmlformats.org/drawingml/2006/main">
            <a:off x="457200" y="180000"/>
            <a:ext cx="1116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  <a:latin typeface="Calibri"/>
                <a:ea typeface="Calibri"/>
              </a:rPr>
              <a:t>Dataset: PaySim</a:t>
            </a:r>
          </a:p>
        </p:txBody>
      </p:sp>
      <p:sp>
        <p:nvSpPr>
          <p:cNvPr id="10016" name="TextBox 4"/>
          <p:cNvSpPr txBox="1"/>
          <p:nvPr/>
        </p:nvSpPr>
        <p:spPr>
          <a:xfrm xmlns:a="http://schemas.openxmlformats.org/drawingml/2006/main">
            <a:off x="457200" y="1152000"/>
            <a:ext cx="11268000" cy="16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900">
                <a:solidFill>
                  <a:srgbClr val="333333"/>
                </a:solidFill>
                <a:latin typeface="Calibri"/>
                <a:ea typeface="Calibri"/>
              </a:rPr>
              <a:t>PaySim — Synthetic Financial Datasets for Fraud Detection (Kaggle: ealaxi/paysim1). Simulasi transaksi mobile money berdasarkan pola transaksi nyata. Atribut meliputi jenis transaksi, nominal, serta saldo pengirim &amp; penerima sebelum/sesudah transaksi, dengan label isFraud sebagai target.</a:t>
            </a:r>
          </a:p>
        </p:txBody>
      </p:sp>
      <p:sp>
        <p:nvSpPr>
          <p:cNvPr id="10017" name="TextBox 5"/>
          <p:cNvSpPr/>
          <p:nvPr/>
        </p:nvSpPr>
        <p:spPr>
          <a:xfrm xmlns:a="http://schemas.openxmlformats.org/drawingml/2006/main">
            <a:off x="457200" y="3780000"/>
            <a:ext cx="35784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18" name="TextBox 6"/>
          <p:cNvSpPr txBox="1"/>
          <p:nvPr/>
        </p:nvSpPr>
        <p:spPr>
          <a:xfrm xmlns:a="http://schemas.openxmlformats.org/drawingml/2006/main">
            <a:off x="457200" y="4104000"/>
            <a:ext cx="35784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400" b="1">
                <a:solidFill>
                  <a:srgbClr val="FFFFFF"/>
                </a:solidFill>
                <a:latin typeface="Calibri"/>
                <a:ea typeface="Calibri"/>
              </a:rPr>
              <a:t>6,36 juta</a:t>
            </a:r>
          </a:p>
        </p:txBody>
      </p:sp>
      <p:sp>
        <p:nvSpPr>
          <p:cNvPr id="10019" name="TextBox 7"/>
          <p:cNvSpPr txBox="1"/>
          <p:nvPr/>
        </p:nvSpPr>
        <p:spPr>
          <a:xfrm xmlns:a="http://schemas.openxmlformats.org/drawingml/2006/main">
            <a:off x="457200" y="4824000"/>
            <a:ext cx="35784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9DC3E6"/>
                </a:solidFill>
                <a:latin typeface="Calibri"/>
                <a:ea typeface="Calibri"/>
              </a:rPr>
              <a:t>baris transaksi</a:t>
            </a:r>
          </a:p>
        </p:txBody>
      </p:sp>
      <p:sp>
        <p:nvSpPr>
          <p:cNvPr id="10020" name="TextBox 8"/>
          <p:cNvSpPr/>
          <p:nvPr/>
        </p:nvSpPr>
        <p:spPr>
          <a:xfrm xmlns:a="http://schemas.openxmlformats.org/drawingml/2006/main">
            <a:off x="4309200" y="3780000"/>
            <a:ext cx="35784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1" name="TextBox 9"/>
          <p:cNvSpPr txBox="1"/>
          <p:nvPr/>
        </p:nvSpPr>
        <p:spPr>
          <a:xfrm xmlns:a="http://schemas.openxmlformats.org/drawingml/2006/main">
            <a:off x="4309200" y="4104000"/>
            <a:ext cx="35784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400" b="1">
                <a:solidFill>
                  <a:srgbClr val="FFFFFF"/>
                </a:solidFill>
                <a:latin typeface="Calibri"/>
                <a:ea typeface="Calibri"/>
              </a:rPr>
              <a:t>11</a:t>
            </a:r>
          </a:p>
        </p:txBody>
      </p:sp>
      <p:sp>
        <p:nvSpPr>
          <p:cNvPr id="10022" name="TextBox 10"/>
          <p:cNvSpPr txBox="1"/>
          <p:nvPr/>
        </p:nvSpPr>
        <p:spPr>
          <a:xfrm xmlns:a="http://schemas.openxmlformats.org/drawingml/2006/main">
            <a:off x="4309200" y="4824000"/>
            <a:ext cx="35784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E7E6E6"/>
                </a:solidFill>
                <a:latin typeface="Calibri"/>
                <a:ea typeface="Calibri"/>
              </a:rPr>
              <a:t>atribut transaksi</a:t>
            </a:r>
          </a:p>
        </p:txBody>
      </p:sp>
      <p:sp>
        <p:nvSpPr>
          <p:cNvPr id="10023" name="TextBox 11"/>
          <p:cNvSpPr/>
          <p:nvPr/>
        </p:nvSpPr>
        <p:spPr>
          <a:xfrm xmlns:a="http://schemas.openxmlformats.org/drawingml/2006/main">
            <a:off x="8161200" y="3780000"/>
            <a:ext cx="35784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4" name="TextBox 12"/>
          <p:cNvSpPr txBox="1"/>
          <p:nvPr/>
        </p:nvSpPr>
        <p:spPr>
          <a:xfrm xmlns:a="http://schemas.openxmlformats.org/drawingml/2006/main">
            <a:off x="8161200" y="4104000"/>
            <a:ext cx="35784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400" b="1">
                <a:solidFill>
                  <a:srgbClr val="FFFFFF"/>
                </a:solidFill>
                <a:latin typeface="Calibri"/>
                <a:ea typeface="Calibri"/>
              </a:rPr>
              <a:t>2 dari 5</a:t>
            </a:r>
          </a:p>
        </p:txBody>
      </p:sp>
      <p:sp>
        <p:nvSpPr>
          <p:cNvPr id="10025" name="TextBox 13"/>
          <p:cNvSpPr txBox="1"/>
          <p:nvPr/>
        </p:nvSpPr>
        <p:spPr>
          <a:xfrm xmlns:a="http://schemas.openxmlformats.org/drawingml/2006/main">
            <a:off x="8161200" y="4824000"/>
            <a:ext cx="35784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jenis transaksi memuat fraud</a:t>
            </a:r>
          </a:p>
          <a:p xmlns:a="http://schemas.openxmlformats.org/drawingml/2006/main">
            <a:pPr algn="ctr"/>
            <a:r>
              <a:rPr lang="en-US" sz="1400">
                <a:solidFill>
                  <a:srgbClr val="FFFFFF"/>
                </a:solidFill>
                <a:latin typeface="Calibri"/>
                <a:ea typeface="Calibri"/>
              </a:rPr>
              <a:t>(TRANSFER &amp; CASH_OUT)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26" name="TextBox 1"/>
          <p:cNvSpPr/>
          <p:nvPr/>
        </p:nvSpPr>
        <p:spPr>
          <a:xfrm xmlns:a="http://schemas.openxmlformats.org/drawingml/2006/main">
            <a:off x="0" y="0"/>
            <a:ext cx="12193200" cy="8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7" name="TextBox 2"/>
          <p:cNvSpPr/>
          <p:nvPr/>
        </p:nvSpPr>
        <p:spPr>
          <a:xfrm xmlns:a="http://schemas.openxmlformats.org/drawingml/2006/main">
            <a:off x="0" y="828000"/>
            <a:ext cx="121932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28" name="TextBox 3"/>
          <p:cNvSpPr txBox="1"/>
          <p:nvPr/>
        </p:nvSpPr>
        <p:spPr>
          <a:xfrm xmlns:a="http://schemas.openxmlformats.org/drawingml/2006/main">
            <a:off x="457200" y="180000"/>
            <a:ext cx="1116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  <a:latin typeface="Calibri"/>
                <a:ea typeface="Calibri"/>
              </a:rPr>
              <a:t>Metodologi &amp; Pembagian Tugas</a:t>
            </a:r>
          </a:p>
        </p:txBody>
      </p:sp>
      <p:sp>
        <p:nvSpPr>
          <p:cNvPr id="10029" name="TextBox 4"/>
          <p:cNvSpPr txBox="1"/>
          <p:nvPr/>
        </p:nvSpPr>
        <p:spPr>
          <a:xfrm xmlns:a="http://schemas.openxmlformats.org/drawingml/2006/main">
            <a:off x="457200" y="1116000"/>
            <a:ext cx="112680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Mengikuti kerangka CRISP-DM. Implementasi Python (pandas, scikit-learn, imbalanced-learn, XGBoost) dengan deployment berupa dashboard Streamlit. Pekerjaan dibagi ke tiga anggota yang saling melengkapi:</a:t>
            </a:r>
          </a:p>
        </p:txBody>
      </p:sp>
      <p:sp>
        <p:nvSpPr>
          <p:cNvPr id="10030" name="TextBox 5"/>
          <p:cNvSpPr/>
          <p:nvPr/>
        </p:nvSpPr>
        <p:spPr>
          <a:xfrm xmlns:a="http://schemas.openxmlformats.org/drawingml/2006/main">
            <a:off x="457200" y="2376000"/>
            <a:ext cx="3578400" cy="32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1" name="TextBox 6"/>
          <p:cNvSpPr txBox="1"/>
          <p:nvPr/>
        </p:nvSpPr>
        <p:spPr>
          <a:xfrm xmlns:a="http://schemas.openxmlformats.org/drawingml/2006/main">
            <a:off x="457200" y="2556000"/>
            <a:ext cx="35784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ANGGOTA 1</a:t>
            </a:r>
          </a:p>
        </p:txBody>
      </p:sp>
      <p:sp>
        <p:nvSpPr>
          <p:cNvPr id="10032" name="TextBox 7"/>
          <p:cNvSpPr txBox="1"/>
          <p:nvPr/>
        </p:nvSpPr>
        <p:spPr>
          <a:xfrm xmlns:a="http://schemas.openxmlformats.org/drawingml/2006/main">
            <a:off x="601200" y="3096000"/>
            <a:ext cx="3290400" cy="23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E7E6E6"/>
                </a:solidFill>
                <a:latin typeface="Calibri"/>
                <a:ea typeface="Calibri"/>
              </a:rPr>
              <a:t>Data Engineering &amp; EDA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E7E6E6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600">
                <a:solidFill>
                  <a:srgbClr val="E7E6E6"/>
                </a:solidFill>
                <a:latin typeface="Calibri"/>
                <a:ea typeface="Calibri"/>
              </a:rPr>
              <a:t>Pembersihan data, rekayasa fitur, dan analisis data eksploratif.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E7E6E6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600">
                <a:solidFill>
                  <a:srgbClr val="E7E6E6"/>
                </a:solidFill>
                <a:latin typeface="Calibri"/>
                <a:ea typeface="Calibri"/>
              </a:rPr>
              <a:t>src/data.py</a:t>
            </a:r>
          </a:p>
        </p:txBody>
      </p:sp>
      <p:sp>
        <p:nvSpPr>
          <p:cNvPr id="10033" name="TextBox 8"/>
          <p:cNvSpPr/>
          <p:nvPr/>
        </p:nvSpPr>
        <p:spPr>
          <a:xfrm xmlns:a="http://schemas.openxmlformats.org/drawingml/2006/main">
            <a:off x="4309200" y="2376000"/>
            <a:ext cx="3578400" cy="32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4" name="TextBox 9"/>
          <p:cNvSpPr txBox="1"/>
          <p:nvPr/>
        </p:nvSpPr>
        <p:spPr>
          <a:xfrm xmlns:a="http://schemas.openxmlformats.org/drawingml/2006/main">
            <a:off x="4309200" y="2556000"/>
            <a:ext cx="35784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ANGGOTA 2</a:t>
            </a:r>
          </a:p>
        </p:txBody>
      </p:sp>
      <p:sp>
        <p:nvSpPr>
          <p:cNvPr id="10035" name="TextBox 10"/>
          <p:cNvSpPr txBox="1"/>
          <p:nvPr/>
        </p:nvSpPr>
        <p:spPr>
          <a:xfrm xmlns:a="http://schemas.openxmlformats.org/drawingml/2006/main">
            <a:off x="4453200" y="3096000"/>
            <a:ext cx="3290400" cy="23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Klasifikasi (Supervised)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Logistic Regression, Random Forest, SMOTE+LogReg, XGBoost + penanganan imbalance.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src/classification.py</a:t>
            </a:r>
          </a:p>
        </p:txBody>
      </p:sp>
      <p:sp>
        <p:nvSpPr>
          <p:cNvPr id="10036" name="TextBox 11"/>
          <p:cNvSpPr/>
          <p:nvPr/>
        </p:nvSpPr>
        <p:spPr>
          <a:xfrm xmlns:a="http://schemas.openxmlformats.org/drawingml/2006/main">
            <a:off x="8161200" y="2376000"/>
            <a:ext cx="3578400" cy="32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37" name="TextBox 12"/>
          <p:cNvSpPr txBox="1"/>
          <p:nvPr/>
        </p:nvSpPr>
        <p:spPr>
          <a:xfrm xmlns:a="http://schemas.openxmlformats.org/drawingml/2006/main">
            <a:off x="8161200" y="2556000"/>
            <a:ext cx="35784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 b="1">
                <a:solidFill>
                  <a:srgbClr val="FFFFFF"/>
                </a:solidFill>
                <a:latin typeface="Calibri"/>
                <a:ea typeface="Calibri"/>
              </a:rPr>
              <a:t>ANGGOTA 3</a:t>
            </a:r>
          </a:p>
        </p:txBody>
      </p:sp>
      <p:sp>
        <p:nvSpPr>
          <p:cNvPr id="10038" name="TextBox 13"/>
          <p:cNvSpPr txBox="1"/>
          <p:nvPr/>
        </p:nvSpPr>
        <p:spPr>
          <a:xfrm xmlns:a="http://schemas.openxmlformats.org/drawingml/2006/main">
            <a:off x="8305200" y="3096000"/>
            <a:ext cx="3290400" cy="23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Unsupervised Learning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Deteksi anomali (Isolation Forest, LOF) &amp; klastering profil risiko (K-Means, DBSCAN).</a:t>
            </a:r>
          </a:p>
          <a:p xmlns:a="http://schemas.openxmlformats.org/drawingml/2006/main">
            <a:pPr algn="l"/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600">
                <a:solidFill>
                  <a:srgbClr val="FFFFFF"/>
                </a:solidFill>
                <a:latin typeface="Calibri"/>
                <a:ea typeface="Calibri"/>
              </a:rPr>
              <a:t>src/unsupervised.py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39" name="TextBox 1"/>
          <p:cNvSpPr/>
          <p:nvPr/>
        </p:nvSpPr>
        <p:spPr>
          <a:xfrm xmlns:a="http://schemas.openxmlformats.org/drawingml/2006/main">
            <a:off x="0" y="0"/>
            <a:ext cx="12193200" cy="8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40" name="TextBox 2"/>
          <p:cNvSpPr/>
          <p:nvPr/>
        </p:nvSpPr>
        <p:spPr>
          <a:xfrm xmlns:a="http://schemas.openxmlformats.org/drawingml/2006/main">
            <a:off x="0" y="828000"/>
            <a:ext cx="121932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41" name="TextBox 3"/>
          <p:cNvSpPr txBox="1"/>
          <p:nvPr/>
        </p:nvSpPr>
        <p:spPr>
          <a:xfrm xmlns:a="http://schemas.openxmlformats.org/drawingml/2006/main">
            <a:off x="457200" y="180000"/>
            <a:ext cx="1116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  <a:latin typeface="Calibri"/>
                <a:ea typeface="Calibri"/>
              </a:rPr>
              <a:t>Hasil: Analisis Data Eksploratif</a:t>
            </a:r>
          </a:p>
        </p:txBody>
      </p:sp>
      <p:sp>
        <p:nvSpPr>
          <p:cNvPr id="10042" name="TextBox 4"/>
          <p:cNvSpPr txBox="1"/>
          <p:nvPr/>
        </p:nvSpPr>
        <p:spPr>
          <a:xfrm xmlns:a="http://schemas.openxmlformats.org/drawingml/2006/main">
            <a:off x="457200" y="1188000"/>
            <a:ext cx="5220000" cy="46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Temuan utama:</a:t>
            </a:r>
          </a:p>
          <a:p xmlns:a="http://schemas.openxmlformats.org/drawingml/2006/main">
            <a:pPr algn="l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•  Seluruh fraud hanya terjadi pada TRANSFER &amp; CASH_OUT.</a:t>
            </a:r>
          </a:p>
          <a:p xmlns:a="http://schemas.openxmlformats.org/drawingml/2006/main">
            <a:pPr algn="l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•  Modus: dana dipindah lalu ditarik (saldo pengirim dikuras hingga nol).</a:t>
            </a:r>
          </a:p>
          <a:p xmlns:a="http://schemas.openxmlformats.org/drawingml/2006/main">
            <a:pPr algn="l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•  Distribusi nominal sangat condong (right-skewed).</a:t>
            </a:r>
          </a:p>
          <a:p xmlns:a="http://schemas.openxmlformats.org/drawingml/2006/main">
            <a:pPr algn="l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•  Memperkuat fitur errorBalance &amp; amountToBalanceRatio.</a:t>
            </a:r>
          </a:p>
        </p:txBody>
      </p:sp>
      <p:sp>
        <p:nvSpPr>
          <p:cNvPr id="10043" name="TextBox 5"/>
          <p:cNvSpPr txBox="1"/>
          <p:nvPr/>
        </p:nvSpPr>
        <p:spPr>
          <a:xfrm xmlns:a="http://schemas.openxmlformats.org/drawingml/2006/main">
            <a:off x="5940000" y="1116000"/>
            <a:ext cx="57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500" b="1">
                <a:solidFill>
                  <a:srgbClr val="1F3864"/>
                </a:solidFill>
                <a:latin typeface="Calibri"/>
                <a:ea typeface="Calibri"/>
              </a:rPr>
              <a:t>Jumlah Transaksi Fraud per Jenis Transaksi</a:t>
            </a:r>
          </a:p>
        </p:txBody>
      </p:sp>
      <p:graphicFrame>
        <p:nvGraphicFramePr>
          <p:cNvPr id="10044" name="Chart 1"/>
          <p:cNvGraphicFramePr/>
          <p:nvPr/>
        </p:nvGraphicFramePr>
        <p:xfrm>
          <a:off xmlns:a="http://schemas.openxmlformats.org/drawingml/2006/main" x="5940000" y="1512000"/>
          <a:ext xmlns:a="http://schemas.openxmlformats.org/drawingml/2006/main" cx="5760000" cy="414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f76ae8e99c4cb8"/>
          </a:graphicData>
        </a:graphic>
      </p:graphicFrame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45" name="TextBox 1"/>
          <p:cNvSpPr/>
          <p:nvPr/>
        </p:nvSpPr>
        <p:spPr>
          <a:xfrm xmlns:a="http://schemas.openxmlformats.org/drawingml/2006/main">
            <a:off x="0" y="0"/>
            <a:ext cx="12193200" cy="8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46" name="TextBox 2"/>
          <p:cNvSpPr/>
          <p:nvPr/>
        </p:nvSpPr>
        <p:spPr>
          <a:xfrm xmlns:a="http://schemas.openxmlformats.org/drawingml/2006/main">
            <a:off x="0" y="828000"/>
            <a:ext cx="121932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47" name="TextBox 3"/>
          <p:cNvSpPr txBox="1"/>
          <p:nvPr/>
        </p:nvSpPr>
        <p:spPr>
          <a:xfrm xmlns:a="http://schemas.openxmlformats.org/drawingml/2006/main">
            <a:off x="457200" y="180000"/>
            <a:ext cx="1116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  <a:latin typeface="Calibri"/>
                <a:ea typeface="Calibri"/>
              </a:rPr>
              <a:t>Hasil: Klasifikasi Fraud</a:t>
            </a:r>
          </a:p>
        </p:txBody>
      </p:sp>
      <p:sp>
        <p:nvSpPr>
          <p:cNvPr id="10048" name="TextBox 4"/>
          <p:cNvSpPr txBox="1"/>
          <p:nvPr/>
        </p:nvSpPr>
        <p:spPr>
          <a:xfrm xmlns:a="http://schemas.openxmlformats.org/drawingml/2006/main">
            <a:off x="457200" y="1080000"/>
            <a:ext cx="11268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Empat model dibandingkan pada data uji. Fokus metrik Recall &amp; PR-AUC karena data sangat tidak seimbang.</a:t>
            </a:r>
          </a:p>
        </p:txBody>
      </p:sp>
      <p:sp>
        <p:nvSpPr>
          <p:cNvPr id="10049" name="TextBox 5"/>
          <p:cNvSpPr/>
          <p:nvPr/>
        </p:nvSpPr>
        <p:spPr>
          <a:xfrm xmlns:a="http://schemas.openxmlformats.org/drawingml/2006/main">
            <a:off x="8352000" y="1800000"/>
            <a:ext cx="3384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50" name="TextBox 6"/>
          <p:cNvSpPr txBox="1"/>
          <p:nvPr/>
        </p:nvSpPr>
        <p:spPr>
          <a:xfrm xmlns:a="http://schemas.openxmlformats.org/drawingml/2006/main">
            <a:off x="8352000" y="2016000"/>
            <a:ext cx="3384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alibri"/>
                <a:ea typeface="Calibri"/>
              </a:rPr>
              <a:t>Model Terbaik</a:t>
            </a:r>
          </a:p>
        </p:txBody>
      </p:sp>
      <p:sp>
        <p:nvSpPr>
          <p:cNvPr id="10051" name="TextBox 7"/>
          <p:cNvSpPr txBox="1"/>
          <p:nvPr/>
        </p:nvSpPr>
        <p:spPr>
          <a:xfrm xmlns:a="http://schemas.openxmlformats.org/drawingml/2006/main">
            <a:off x="8352000" y="2592000"/>
            <a:ext cx="3384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 b="1">
                <a:solidFill>
                  <a:srgbClr val="FFFFFF"/>
                </a:solidFill>
                <a:latin typeface="Calibri"/>
                <a:ea typeface="Calibri"/>
              </a:rPr>
              <a:t>Random Forest</a:t>
            </a:r>
          </a:p>
        </p:txBody>
      </p:sp>
      <p:sp>
        <p:nvSpPr>
          <p:cNvPr id="10052" name="TextBox 8"/>
          <p:cNvSpPr txBox="1"/>
          <p:nvPr/>
        </p:nvSpPr>
        <p:spPr>
          <a:xfrm xmlns:a="http://schemas.openxmlformats.org/drawingml/2006/main">
            <a:off x="8352000" y="3240000"/>
            <a:ext cx="3384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900">
                <a:solidFill>
                  <a:srgbClr val="FFFFFF"/>
                </a:solidFill>
                <a:latin typeface="Calibri"/>
                <a:ea typeface="Calibri"/>
              </a:rPr>
              <a:t>PR-AUC  0,998</a:t>
            </a:r>
          </a:p>
          <a:p xmlns:a="http://schemas.openxmlformats.org/drawingml/2006/main">
            <a:pPr algn="ctr"/>
            <a:r>
              <a:rPr lang="en-US" sz="1900">
                <a:solidFill>
                  <a:srgbClr val="FFFFFF"/>
                </a:solidFill>
                <a:latin typeface="Calibri"/>
                <a:ea typeface="Calibri"/>
              </a:rPr>
              <a:t>F1-score  0,999</a:t>
            </a:r>
          </a:p>
          <a:p xmlns:a="http://schemas.openxmlformats.org/drawingml/2006/main">
            <a:pPr algn="ctr"/>
            <a:r>
              <a:rPr lang="en-US" sz="1900">
                <a:solidFill>
                  <a:srgbClr val="FFFFFF"/>
                </a:solidFill>
                <a:latin typeface="Calibri"/>
                <a:ea typeface="Calibri"/>
              </a:rPr>
              <a:t>Recall  0,997</a:t>
            </a:r>
          </a:p>
        </p:txBody>
      </p:sp>
      <p:graphicFrame>
        <p:nvGraphicFramePr>
          <p:cNvPr id="10053" name="Table 1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8229600" cy="1854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FFFF"/>
                          </a:solidFill>
                        </a:rPr>
                        <a:t>PR-AUC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0,952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0,059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0,726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/>
                        <a:t>Random Forest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0,997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0,999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0,998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SMOTE + LogReg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0,956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0,061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0,720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0,961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0,961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0,990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54" name="TextBox 1"/>
          <p:cNvSpPr/>
          <p:nvPr/>
        </p:nvSpPr>
        <p:spPr>
          <a:xfrm xmlns:a="http://schemas.openxmlformats.org/drawingml/2006/main">
            <a:off x="0" y="0"/>
            <a:ext cx="12193200" cy="8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55" name="TextBox 2"/>
          <p:cNvSpPr/>
          <p:nvPr/>
        </p:nvSpPr>
        <p:spPr>
          <a:xfrm xmlns:a="http://schemas.openxmlformats.org/drawingml/2006/main">
            <a:off x="0" y="828000"/>
            <a:ext cx="121932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56" name="TextBox 3"/>
          <p:cNvSpPr txBox="1"/>
          <p:nvPr/>
        </p:nvSpPr>
        <p:spPr>
          <a:xfrm xmlns:a="http://schemas.openxmlformats.org/drawingml/2006/main">
            <a:off x="457200" y="180000"/>
            <a:ext cx="1116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  <a:latin typeface="Calibri"/>
                <a:ea typeface="Calibri"/>
              </a:rPr>
              <a:t>Hasil: Anomali &amp; Klastering</a:t>
            </a:r>
          </a:p>
        </p:txBody>
      </p:sp>
      <p:sp>
        <p:nvSpPr>
          <p:cNvPr id="10057" name="TextBox 4"/>
          <p:cNvSpPr/>
          <p:nvPr/>
        </p:nvSpPr>
        <p:spPr>
          <a:xfrm xmlns:a="http://schemas.openxmlformats.org/drawingml/2006/main">
            <a:off x="457200" y="1224000"/>
            <a:ext cx="5544000" cy="43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 w="19050">
            <a:solidFill>
              <a:srgbClr val="2E74B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58" name="TextBox 5"/>
          <p:cNvSpPr txBox="1"/>
          <p:nvPr/>
        </p:nvSpPr>
        <p:spPr>
          <a:xfrm xmlns:a="http://schemas.openxmlformats.org/drawingml/2006/main">
            <a:off x="601200" y="1404000"/>
            <a:ext cx="5256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1F3864"/>
                </a:solidFill>
                <a:latin typeface="Calibri"/>
                <a:ea typeface="Calibri"/>
              </a:rPr>
              <a:t>Deteksi Anomali</a:t>
            </a:r>
          </a:p>
        </p:txBody>
      </p:sp>
      <p:sp>
        <p:nvSpPr>
          <p:cNvPr id="10059" name="TextBox 6"/>
          <p:cNvSpPr txBox="1"/>
          <p:nvPr/>
        </p:nvSpPr>
        <p:spPr>
          <a:xfrm xmlns:a="http://schemas.openxmlformats.org/drawingml/2006/main">
            <a:off x="601200" y="1908000"/>
            <a:ext cx="5256000" cy="14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Isolation Forest &amp; Local Outlier Factor (tanpa label).</a:t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Tanpa memakai label, Isolation Forest memberi skor anomali yang selaras dengan fraud sebenarnya:</a:t>
            </a:r>
          </a:p>
        </p:txBody>
      </p:sp>
      <p:sp>
        <p:nvSpPr>
          <p:cNvPr id="10060" name="TextBox 7"/>
          <p:cNvSpPr txBox="1"/>
          <p:nvPr/>
        </p:nvSpPr>
        <p:spPr>
          <a:xfrm xmlns:a="http://schemas.openxmlformats.org/drawingml/2006/main">
            <a:off x="601200" y="3744000"/>
            <a:ext cx="5256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000" b="1">
                <a:solidFill>
                  <a:srgbClr val="2E74B5"/>
                </a:solidFill>
                <a:latin typeface="Calibri"/>
                <a:ea typeface="Calibri"/>
              </a:rPr>
              <a:t>ROC-AUC 0,85</a:t>
            </a:r>
          </a:p>
        </p:txBody>
      </p:sp>
      <p:sp>
        <p:nvSpPr>
          <p:cNvPr id="10061" name="TextBox 8"/>
          <p:cNvSpPr txBox="1"/>
          <p:nvPr/>
        </p:nvSpPr>
        <p:spPr>
          <a:xfrm xmlns:a="http://schemas.openxmlformats.org/drawingml/2006/main">
            <a:off x="601200" y="4428000"/>
            <a:ext cx="5256000" cy="10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500" i="1">
                <a:solidFill>
                  <a:srgbClr val="333333"/>
                </a:solidFill>
                <a:latin typeface="Calibri"/>
                <a:ea typeface="Calibri"/>
              </a:rPr>
              <a:t>Berguna untuk menangkap modus fraud baru yang belum dilabeli (zero-day).</a:t>
            </a:r>
          </a:p>
        </p:txBody>
      </p:sp>
      <p:sp>
        <p:nvSpPr>
          <p:cNvPr id="10062" name="TextBox 9"/>
          <p:cNvSpPr/>
          <p:nvPr/>
        </p:nvSpPr>
        <p:spPr>
          <a:xfrm xmlns:a="http://schemas.openxmlformats.org/drawingml/2006/main">
            <a:off x="6192000" y="1224000"/>
            <a:ext cx="5544000" cy="43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A"/>
          </a:solidFill>
          <a:ln xmlns:a="http://schemas.openxmlformats.org/drawingml/2006/main" w="19050">
            <a:solidFill>
              <a:srgbClr val="ED7D3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63" name="TextBox 10"/>
          <p:cNvSpPr txBox="1"/>
          <p:nvPr/>
        </p:nvSpPr>
        <p:spPr>
          <a:xfrm xmlns:a="http://schemas.openxmlformats.org/drawingml/2006/main">
            <a:off x="6336000" y="1404000"/>
            <a:ext cx="5256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1F3864"/>
                </a:solidFill>
                <a:latin typeface="Calibri"/>
                <a:ea typeface="Calibri"/>
              </a:rPr>
              <a:t>Klastering Profil Risiko</a:t>
            </a:r>
          </a:p>
        </p:txBody>
      </p:sp>
      <p:sp>
        <p:nvSpPr>
          <p:cNvPr id="10064" name="TextBox 11"/>
          <p:cNvSpPr txBox="1"/>
          <p:nvPr/>
        </p:nvSpPr>
        <p:spPr>
          <a:xfrm xmlns:a="http://schemas.openxmlformats.org/drawingml/2006/main">
            <a:off x="6336000" y="1908000"/>
            <a:ext cx="5256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K-Means (elbow &amp; silhouette) dan DBSCAN mensegmentasi transaksi menjadi beberapa profil risiko.</a:t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•  Segmen nominal besar + rasio tinggi → proporsi fraud TERTINGGI (≈ 1,3%).</a:t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•  Segmen nominal kecil → risiko rendah (≈ 0%).</a:t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•  Segmen berisiko tinggi menjadi prioritas pemantauan.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65" name="TextBox 1"/>
          <p:cNvSpPr/>
          <p:nvPr/>
        </p:nvSpPr>
        <p:spPr>
          <a:xfrm xmlns:a="http://schemas.openxmlformats.org/drawingml/2006/main">
            <a:off x="0" y="0"/>
            <a:ext cx="12193200" cy="82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864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66" name="TextBox 2"/>
          <p:cNvSpPr/>
          <p:nvPr/>
        </p:nvSpPr>
        <p:spPr>
          <a:xfrm xmlns:a="http://schemas.openxmlformats.org/drawingml/2006/main">
            <a:off x="0" y="828000"/>
            <a:ext cx="121932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67" name="TextBox 3"/>
          <p:cNvSpPr txBox="1"/>
          <p:nvPr/>
        </p:nvSpPr>
        <p:spPr>
          <a:xfrm xmlns:a="http://schemas.openxmlformats.org/drawingml/2006/main">
            <a:off x="457200" y="180000"/>
            <a:ext cx="1116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  <a:latin typeface="Calibri"/>
                <a:ea typeface="Calibri"/>
              </a:rPr>
              <a:t>Kesimpulan &amp; Rekomendasi Mitigasi</a:t>
            </a:r>
          </a:p>
        </p:txBody>
      </p:sp>
      <p:sp>
        <p:nvSpPr>
          <p:cNvPr id="10068" name="TextBox 4"/>
          <p:cNvSpPr txBox="1"/>
          <p:nvPr/>
        </p:nvSpPr>
        <p:spPr>
          <a:xfrm xmlns:a="http://schemas.openxmlformats.org/drawingml/2006/main">
            <a:off x="457200" y="1080000"/>
            <a:ext cx="54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2E74B5"/>
                </a:solidFill>
                <a:latin typeface="Calibri"/>
                <a:ea typeface="Calibri"/>
              </a:rPr>
              <a:t>Kesimpulan</a:t>
            </a:r>
          </a:p>
        </p:txBody>
      </p:sp>
      <p:sp>
        <p:nvSpPr>
          <p:cNvPr id="10069" name="TextBox 5"/>
          <p:cNvSpPr txBox="1"/>
          <p:nvPr/>
        </p:nvSpPr>
        <p:spPr>
          <a:xfrm xmlns:a="http://schemas.openxmlformats.org/drawingml/2006/main">
            <a:off x="457200" y="1548000"/>
            <a:ext cx="5400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•  Random Forest model klasifikasi terbaik (PR-AUC 0,998).</a:t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•  Isolation Forest mendeteksi fraud tanpa label (ROC-AUC 0,85).</a:t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•  Klastering mengidentifikasi segmen transaksi berisiko tinggi.</a:t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•  Seluruh hasil terintegrasi dalam dashboard Streamlit.</a:t>
            </a:r>
          </a:p>
        </p:txBody>
      </p:sp>
      <p:sp>
        <p:nvSpPr>
          <p:cNvPr id="10070" name="TextBox 6"/>
          <p:cNvSpPr txBox="1"/>
          <p:nvPr/>
        </p:nvSpPr>
        <p:spPr>
          <a:xfrm xmlns:a="http://schemas.openxmlformats.org/drawingml/2006/main">
            <a:off x="6300000" y="1080000"/>
            <a:ext cx="54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ED7D31"/>
                </a:solidFill>
                <a:latin typeface="Calibri"/>
                <a:ea typeface="Calibri"/>
              </a:rPr>
              <a:t>Rekomendasi Mitigasi</a:t>
            </a:r>
          </a:p>
        </p:txBody>
      </p:sp>
      <p:sp>
        <p:nvSpPr>
          <p:cNvPr id="10071" name="TextBox 7"/>
          <p:cNvSpPr txBox="1"/>
          <p:nvPr/>
        </p:nvSpPr>
        <p:spPr>
          <a:xfrm xmlns:a="http://schemas.openxmlformats.org/drawingml/2006/main">
            <a:off x="6300000" y="1548000"/>
            <a:ext cx="5400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1.  Risk scoring real-time dengan Random Forest pada setiap transaksi.</a:t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2.  Kontrol berlapis untuk TRANSFER &amp; CASH_OUT bernilai besar.</a:t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3.  Deteksi anomali berkala sebagai pertahanan kedua (modus baru).</a:t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pPr algn="l"/>
            <a:r>
              <a:rPr lang="en-US" sz="1700">
                <a:solidFill>
                  <a:srgbClr val="333333"/>
                </a:solidFill>
                <a:latin typeface="Calibri"/>
                <a:ea typeface="Calibri"/>
              </a:rPr>
              <a:t>4.  Retraining periodik &amp; dokumentasi loss event (antisipasi concept drift).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F3864"/>
        </a:solidFill>
      </p:bgPr>
    </p:bg>
    <p:spTree>
      <p:nvGrpSpPr>
        <p:cNvPr id="1" name=""/>
        <p:cNvGrpSpPr/>
        <p:nvPr/>
      </p:nvGrpSpPr>
      <p:grpSpPr/>
      <p:sp>
        <p:nvSpPr>
          <p:cNvPr id="10072" name="TextBox 1"/>
          <p:cNvSpPr/>
          <p:nvPr/>
        </p:nvSpPr>
        <p:spPr>
          <a:xfrm xmlns:a="http://schemas.openxmlformats.org/drawingml/2006/main">
            <a:off x="0" y="3168000"/>
            <a:ext cx="121932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7D31"/>
          </a:solidFill>
          <a:ln xmlns:a="http://schemas.openxmlformats.org/drawingml/2006/main" w="0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73" name="TextBox 2"/>
          <p:cNvSpPr txBox="1"/>
          <p:nvPr/>
        </p:nvSpPr>
        <p:spPr>
          <a:xfrm xmlns:a="http://schemas.openxmlformats.org/drawingml/2006/main">
            <a:off x="720000" y="2016000"/>
            <a:ext cx="10753200" cy="93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FFFFF"/>
                </a:solidFill>
                <a:latin typeface="Calibri"/>
                <a:ea typeface="Calibri"/>
              </a:rPr>
              <a:t>Terima Kasih</a:t>
            </a:r>
          </a:p>
        </p:txBody>
      </p:sp>
      <p:sp>
        <p:nvSpPr>
          <p:cNvPr id="10074" name="TextBox 3"/>
          <p:cNvSpPr txBox="1"/>
          <p:nvPr/>
        </p:nvSpPr>
        <p:spPr>
          <a:xfrm xmlns:a="http://schemas.openxmlformats.org/drawingml/2006/main">
            <a:off x="720000" y="3384000"/>
            <a:ext cx="107532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9DC3E6"/>
                </a:solidFill>
                <a:latin typeface="Calibri"/>
                <a:ea typeface="Calibri"/>
              </a:rPr>
              <a:t>Operational Risk Management — Deteksi Fraud dengan Data Mining</a:t>
            </a:r>
          </a:p>
        </p:txBody>
      </p:sp>
      <p:sp>
        <p:nvSpPr>
          <p:cNvPr id="10075" name="TextBox 4"/>
          <p:cNvSpPr txBox="1"/>
          <p:nvPr/>
        </p:nvSpPr>
        <p:spPr>
          <a:xfrm xmlns:a="http://schemas.openxmlformats.org/drawingml/2006/main">
            <a:off x="720000" y="4032000"/>
            <a:ext cx="10753200" cy="86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>
                <a:solidFill>
                  <a:srgbClr val="E7E6E6"/>
                </a:solidFill>
                <a:latin typeface="Calibri"/>
                <a:ea typeface="Calibri"/>
              </a:rPr>
              <a:t>Kelompok 3 — [Anggota 1]  •  [Anggota 2]  •  [Anggota 3]</a:t>
            </a:r>
          </a:p>
          <a:p xmlns:a="http://schemas.openxmlformats.org/drawingml/2006/main">
            <a:pPr algn="ctr"/>
            <a:r>
              <a:rPr lang="en-US" sz="1600">
                <a:solidFill>
                  <a:srgbClr val="E7E6E6"/>
                </a:solidFill>
                <a:latin typeface="Calibri"/>
                <a:ea typeface="Calibri"/>
              </a:rPr>
              <a:t>Data Mining (S2) — 2025/2026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2026-06-03T07:55:27Z</dcterms:created>
  <cp:lastModifiedBy>OfficeCLI</cp:lastModifiedBy>
  <dcterms:modified xsi:type="dcterms:W3CDTF">2026-06-03T07:55:27Z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1.0.102</vt:lpwstr>
  </op:property>
  <op:property fmtid="{D5CDD505-2E9C-101B-9397-08002B2CF9AE}" pid="3" name="OfficeCLI.LastModified">
    <vt:lpwstr xmlns:vt="http://schemas.openxmlformats.org/officeDocument/2006/docPropsVTypes">2026-06-03T08:02:37Z</vt:lpwstr>
  </op:property>
</op:Properties>
</file>